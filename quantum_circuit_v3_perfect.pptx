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457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182880"/>
            <a:ext cx="8778240" cy="4206240"/>
          </a:xfrm>
          <a:prstGeom prst="rect">
            <a:avLst/>
          </a:prstGeom>
          <a:noFill/>
          <a:ln w="38100"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Arial"/>
              </a:defRPr>
            </a:pPr>
            <a:r>
              <a:t>Step 4. Retrain the searched ansatz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4630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0">
                <a:solidFill>
                  <a:srgbClr val="000000"/>
                </a:solidFill>
                <a:latin typeface="Times New Roman"/>
              </a:defRPr>
            </a:pPr>
            <a:r>
              <a:t>|0⟩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1520" y="1645920"/>
            <a:ext cx="612648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74320" y="1920239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0">
                <a:solidFill>
                  <a:srgbClr val="000000"/>
                </a:solidFill>
                <a:latin typeface="Times New Roman"/>
              </a:defRPr>
            </a:pPr>
            <a:r>
              <a:t>|0⟩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31520" y="2103120"/>
            <a:ext cx="612648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74320" y="26517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0">
                <a:solidFill>
                  <a:srgbClr val="000000"/>
                </a:solidFill>
                <a:latin typeface="Times New Roman"/>
              </a:defRPr>
            </a:pPr>
            <a:r>
              <a:t>|0⟩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31520" y="2834640"/>
            <a:ext cx="612648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74320" y="31089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0">
                <a:solidFill>
                  <a:srgbClr val="000000"/>
                </a:solidFill>
                <a:latin typeface="Times New Roman"/>
              </a:defRPr>
            </a:pPr>
            <a:r>
              <a:t>|0⟩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31520" y="3291840"/>
            <a:ext cx="612648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40080" y="22860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000000"/>
                </a:solidFill>
                <a:latin typeface="Times New Roman"/>
              </a:defRPr>
            </a:pPr>
            <a:r>
              <a:t>...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22860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000000"/>
                </a:solidFill>
                <a:latin typeface="Times New Roman"/>
              </a:defRPr>
            </a:pPr>
            <a:r>
              <a:t>...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645920" y="1463040"/>
            <a:ext cx="731520" cy="2103120"/>
          </a:xfrm>
          <a:prstGeom prst="roundRect">
            <a:avLst/>
          </a:prstGeom>
          <a:solidFill>
            <a:srgbClr val="EAABB5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i="1" sz="2000">
                <a:solidFill>
                  <a:srgbClr val="000000"/>
                </a:solidFill>
                <a:latin typeface="Times New Roman"/>
              </a:defRPr>
            </a:pPr>
            <a:r>
              <a:t>Ux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26080" y="1371600"/>
            <a:ext cx="1188720" cy="2286000"/>
          </a:xfrm>
          <a:prstGeom prst="roundRect">
            <a:avLst/>
          </a:prstGeom>
          <a:solidFill>
            <a:srgbClr val="FFF8E1"/>
          </a:solidFill>
          <a:ln>
            <a:solidFill>
              <a:srgbClr val="F5D7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26080" y="100584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C87800"/>
                </a:solidFill>
                <a:latin typeface="Times New Roman"/>
              </a:defRPr>
            </a:pPr>
            <a:r>
              <a:t>U1(θ)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1371600"/>
            <a:ext cx="1188720" cy="2286000"/>
          </a:xfrm>
          <a:prstGeom prst="roundRect">
            <a:avLst/>
          </a:prstGeom>
          <a:solidFill>
            <a:srgbClr val="FFF8E1"/>
          </a:solidFill>
          <a:ln>
            <a:solidFill>
              <a:srgbClr val="F5D7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0" y="100584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C87800"/>
                </a:solidFill>
                <a:latin typeface="Times New Roman"/>
              </a:defRPr>
            </a:pPr>
            <a:r>
              <a:t>UL(θ)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40380" y="1485900"/>
            <a:ext cx="3200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i="1">
                <a:solidFill>
                  <a:srgbClr val="000000"/>
                </a:solidFill>
                <a:latin typeface="Times New Roman"/>
              </a:defRPr>
            </a:pPr>
            <a:r>
              <a:t>Rx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40380" y="1943100"/>
            <a:ext cx="3200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i="1">
                <a:solidFill>
                  <a:srgbClr val="000000"/>
                </a:solidFill>
                <a:latin typeface="Times New Roman"/>
              </a:defRPr>
            </a:pPr>
            <a:r>
              <a:t>Rx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40380" y="2674620"/>
            <a:ext cx="3200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i="1">
                <a:solidFill>
                  <a:srgbClr val="000000"/>
                </a:solidFill>
                <a:latin typeface="Times New Roman"/>
              </a:defRPr>
            </a:pPr>
            <a:r>
              <a:t>Rx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40380" y="3131820"/>
            <a:ext cx="3200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i="1">
                <a:solidFill>
                  <a:srgbClr val="000000"/>
                </a:solidFill>
                <a:latin typeface="Times New Roman"/>
              </a:defRPr>
            </a:pPr>
            <a:r>
              <a:t>Rx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749040" y="1645920"/>
            <a:ext cx="0" cy="45720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3712464" y="1609344"/>
            <a:ext cx="73152" cy="73152"/>
          </a:xfrm>
          <a:prstGeom prst="ellipse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89020" y="1943100"/>
            <a:ext cx="3200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i="1">
                <a:solidFill>
                  <a:srgbClr val="000000"/>
                </a:solidFill>
                <a:latin typeface="Times New Roman"/>
              </a:defRPr>
            </a:pPr>
            <a:r>
              <a:t>I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749040" y="2834640"/>
            <a:ext cx="0" cy="45720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3712464" y="2798064"/>
            <a:ext cx="73152" cy="73152"/>
          </a:xfrm>
          <a:prstGeom prst="ellipse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589020" y="3131820"/>
            <a:ext cx="3200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i="1">
                <a:solidFill>
                  <a:srgbClr val="000000"/>
                </a:solidFill>
                <a:latin typeface="Times New Roman"/>
              </a:defRPr>
            </a:pPr>
            <a:r>
              <a:t>X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143500" y="1485900"/>
            <a:ext cx="3200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i="1">
                <a:solidFill>
                  <a:srgbClr val="000000"/>
                </a:solidFill>
                <a:latin typeface="Times New Roman"/>
              </a:defRPr>
            </a:pPr>
            <a:r>
              <a:t>Ry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143500" y="1943100"/>
            <a:ext cx="3200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i="1">
                <a:solidFill>
                  <a:srgbClr val="000000"/>
                </a:solidFill>
                <a:latin typeface="Times New Roman"/>
              </a:defRPr>
            </a:pPr>
            <a:r>
              <a:t>Ry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143500" y="2674620"/>
            <a:ext cx="3200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i="1">
                <a:solidFill>
                  <a:srgbClr val="000000"/>
                </a:solidFill>
                <a:latin typeface="Times New Roman"/>
              </a:defRPr>
            </a:pPr>
            <a:r>
              <a:t>Ry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143500" y="3131820"/>
            <a:ext cx="3200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i="1">
                <a:solidFill>
                  <a:srgbClr val="000000"/>
                </a:solidFill>
                <a:latin typeface="Times New Roman"/>
              </a:defRPr>
            </a:pPr>
            <a:r>
              <a:t>Ry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852160" y="1645920"/>
            <a:ext cx="0" cy="45720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5815584" y="1609344"/>
            <a:ext cx="73152" cy="73152"/>
          </a:xfrm>
          <a:prstGeom prst="ellipse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692140" y="1943100"/>
            <a:ext cx="3200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i="1">
                <a:solidFill>
                  <a:srgbClr val="000000"/>
                </a:solidFill>
                <a:latin typeface="Times New Roman"/>
              </a:defRPr>
            </a:pPr>
            <a:r>
              <a:t>X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852160" y="2834640"/>
            <a:ext cx="0" cy="45720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5815584" y="2798064"/>
            <a:ext cx="73152" cy="73152"/>
          </a:xfrm>
          <a:prstGeom prst="ellipse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692140" y="3131820"/>
            <a:ext cx="3200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i="1">
                <a:solidFill>
                  <a:srgbClr val="000000"/>
                </a:solidFill>
                <a:latin typeface="Times New Roman"/>
              </a:defRPr>
            </a:pPr>
            <a:r>
              <a:t>X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58000" y="1485900"/>
            <a:ext cx="320040" cy="3200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Arc 39"/>
          <p:cNvSpPr/>
          <p:nvPr/>
        </p:nvSpPr>
        <p:spPr>
          <a:xfrm>
            <a:off x="6903720" y="1627632"/>
            <a:ext cx="228600" cy="228600"/>
          </a:xfrm>
          <a:prstGeom prst="arc">
            <a:avLst>
              <a:gd name="adj1" fmla="val 4500000"/>
              <a:gd name="adj2" fmla="val 13500000"/>
            </a:avLst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 flipV="1">
            <a:off x="7018020" y="1572768"/>
            <a:ext cx="96012" cy="18288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6858000" y="1943100"/>
            <a:ext cx="320040" cy="3200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Arc 42"/>
          <p:cNvSpPr/>
          <p:nvPr/>
        </p:nvSpPr>
        <p:spPr>
          <a:xfrm>
            <a:off x="6903720" y="2084831"/>
            <a:ext cx="228600" cy="228600"/>
          </a:xfrm>
          <a:prstGeom prst="arc">
            <a:avLst>
              <a:gd name="adj1" fmla="val 4500000"/>
              <a:gd name="adj2" fmla="val 13500000"/>
            </a:avLst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" name="Connector 43"/>
          <p:cNvCxnSpPr/>
          <p:nvPr/>
        </p:nvCxnSpPr>
        <p:spPr>
          <a:xfrm flipV="1">
            <a:off x="7018020" y="2029967"/>
            <a:ext cx="96012" cy="182881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6858000" y="2674620"/>
            <a:ext cx="320040" cy="3200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Arc 45"/>
          <p:cNvSpPr/>
          <p:nvPr/>
        </p:nvSpPr>
        <p:spPr>
          <a:xfrm>
            <a:off x="6903720" y="2816352"/>
            <a:ext cx="228600" cy="228600"/>
          </a:xfrm>
          <a:prstGeom prst="arc">
            <a:avLst>
              <a:gd name="adj1" fmla="val 4500000"/>
              <a:gd name="adj2" fmla="val 13500000"/>
            </a:avLst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 flipV="1">
            <a:off x="7018020" y="2761488"/>
            <a:ext cx="96012" cy="18288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6858000" y="3131820"/>
            <a:ext cx="320040" cy="3200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Arc 48"/>
          <p:cNvSpPr/>
          <p:nvPr/>
        </p:nvSpPr>
        <p:spPr>
          <a:xfrm>
            <a:off x="6903720" y="3273552"/>
            <a:ext cx="228600" cy="228600"/>
          </a:xfrm>
          <a:prstGeom prst="arc">
            <a:avLst>
              <a:gd name="adj1" fmla="val 4500000"/>
              <a:gd name="adj2" fmla="val 13500000"/>
            </a:avLst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" name="Connector 49"/>
          <p:cNvCxnSpPr/>
          <p:nvPr/>
        </p:nvCxnSpPr>
        <p:spPr>
          <a:xfrm flipV="1">
            <a:off x="7018020" y="3218688"/>
            <a:ext cx="96012" cy="18288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50"/>
          <p:cNvSpPr/>
          <p:nvPr/>
        </p:nvSpPr>
        <p:spPr>
          <a:xfrm>
            <a:off x="7772400" y="2468880"/>
            <a:ext cx="1463040" cy="914400"/>
          </a:xfrm>
          <a:prstGeom prst="roundRect">
            <a:avLst/>
          </a:prstGeom>
          <a:solidFill>
            <a:srgbClr val="C5E0B4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000000"/>
                </a:solidFill>
              </a:defRPr>
            </a:pPr>
            <a:r>
              <a:t>Classical</a:t>
            </a:r>
          </a:p>
          <a:p>
            <a:r>
              <a:t>optimizer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7223760" y="2468880"/>
            <a:ext cx="548640" cy="45720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Freeform 52"/>
          <p:cNvSpPr/>
          <p:nvPr/>
        </p:nvSpPr>
        <p:spPr>
          <a:xfrm>
            <a:off x="6126480" y="1183014"/>
            <a:ext cx="2377440" cy="1285866"/>
          </a:xfrm>
          <a:custGeom>
            <a:avLst/>
            <a:gdLst/>
            <a:ahLst/>
            <a:cxnLst/>
            <a:rect l="l" t="t" r="r" b="b"/>
            <a:pathLst>
              <a:path w="2377440" h="1285866">
                <a:moveTo>
                  <a:pt x="2377440" y="1285866"/>
                </a:moveTo>
                <a:lnTo>
                  <a:pt x="2365735" y="1231587"/>
                </a:lnTo>
                <a:lnTo>
                  <a:pt x="2352568" y="1178478"/>
                </a:lnTo>
                <a:lnTo>
                  <a:pt x="2337937" y="1126540"/>
                </a:lnTo>
                <a:lnTo>
                  <a:pt x="2321844" y="1075773"/>
                </a:lnTo>
                <a:lnTo>
                  <a:pt x="2304288" y="1026176"/>
                </a:lnTo>
                <a:lnTo>
                  <a:pt x="2285268" y="977749"/>
                </a:lnTo>
                <a:lnTo>
                  <a:pt x="2264785" y="930493"/>
                </a:lnTo>
                <a:lnTo>
                  <a:pt x="2242840" y="884407"/>
                </a:lnTo>
                <a:lnTo>
                  <a:pt x="2219431" y="839492"/>
                </a:lnTo>
                <a:lnTo>
                  <a:pt x="2194560" y="795747"/>
                </a:lnTo>
                <a:lnTo>
                  <a:pt x="2168225" y="753173"/>
                </a:lnTo>
                <a:lnTo>
                  <a:pt x="2140427" y="711769"/>
                </a:lnTo>
                <a:lnTo>
                  <a:pt x="2111166" y="671535"/>
                </a:lnTo>
                <a:lnTo>
                  <a:pt x="2080442" y="632472"/>
                </a:lnTo>
                <a:lnTo>
                  <a:pt x="2048256" y="594579"/>
                </a:lnTo>
                <a:lnTo>
                  <a:pt x="2014606" y="557857"/>
                </a:lnTo>
                <a:lnTo>
                  <a:pt x="1979493" y="522305"/>
                </a:lnTo>
                <a:lnTo>
                  <a:pt x="1942917" y="487923"/>
                </a:lnTo>
                <a:lnTo>
                  <a:pt x="1904878" y="454712"/>
                </a:lnTo>
                <a:lnTo>
                  <a:pt x="1865376" y="422672"/>
                </a:lnTo>
                <a:lnTo>
                  <a:pt x="1824410" y="391802"/>
                </a:lnTo>
                <a:lnTo>
                  <a:pt x="1781982" y="362102"/>
                </a:lnTo>
                <a:lnTo>
                  <a:pt x="1738091" y="333573"/>
                </a:lnTo>
                <a:lnTo>
                  <a:pt x="1692737" y="306214"/>
                </a:lnTo>
                <a:lnTo>
                  <a:pt x="1645920" y="280026"/>
                </a:lnTo>
                <a:lnTo>
                  <a:pt x="1597639" y="255008"/>
                </a:lnTo>
                <a:lnTo>
                  <a:pt x="1547896" y="231160"/>
                </a:lnTo>
                <a:lnTo>
                  <a:pt x="1496689" y="208483"/>
                </a:lnTo>
                <a:lnTo>
                  <a:pt x="1444020" y="186976"/>
                </a:lnTo>
                <a:lnTo>
                  <a:pt x="1389888" y="166640"/>
                </a:lnTo>
                <a:lnTo>
                  <a:pt x="1334292" y="147474"/>
                </a:lnTo>
                <a:lnTo>
                  <a:pt x="1277233" y="129479"/>
                </a:lnTo>
                <a:lnTo>
                  <a:pt x="1218712" y="112654"/>
                </a:lnTo>
                <a:lnTo>
                  <a:pt x="1158727" y="96999"/>
                </a:lnTo>
                <a:lnTo>
                  <a:pt x="1097280" y="82515"/>
                </a:lnTo>
                <a:lnTo>
                  <a:pt x="1034369" y="69201"/>
                </a:lnTo>
                <a:lnTo>
                  <a:pt x="969995" y="57058"/>
                </a:lnTo>
                <a:lnTo>
                  <a:pt x="904158" y="46085"/>
                </a:lnTo>
                <a:lnTo>
                  <a:pt x="836858" y="36283"/>
                </a:lnTo>
                <a:lnTo>
                  <a:pt x="768096" y="27651"/>
                </a:lnTo>
                <a:lnTo>
                  <a:pt x="697870" y="20190"/>
                </a:lnTo>
                <a:lnTo>
                  <a:pt x="626181" y="13899"/>
                </a:lnTo>
                <a:lnTo>
                  <a:pt x="553029" y="8778"/>
                </a:lnTo>
                <a:lnTo>
                  <a:pt x="478414" y="4828"/>
                </a:lnTo>
                <a:lnTo>
                  <a:pt x="402336" y="2048"/>
                </a:lnTo>
                <a:lnTo>
                  <a:pt x="324794" y="439"/>
                </a:lnTo>
                <a:lnTo>
                  <a:pt x="245790" y="0"/>
                </a:lnTo>
                <a:lnTo>
                  <a:pt x="165323" y="731"/>
                </a:lnTo>
                <a:lnTo>
                  <a:pt x="83393" y="2633"/>
                </a:lnTo>
                <a:lnTo>
                  <a:pt x="0" y="5706"/>
                </a:lnTo>
              </a:path>
            </a:pathLst>
          </a:custGeom>
          <a:ln w="31750">
            <a:solidFill>
              <a:srgbClr val="C55A1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315200" y="109728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0">
                <a:solidFill>
                  <a:srgbClr val="000000"/>
                </a:solidFill>
                <a:latin typeface="Times New Roman"/>
              </a:defRPr>
            </a:pPr>
            <a:r>
              <a:t>Update</a:t>
            </a:r>
            <a:br/>
            <a:r>
              <a:t>Parameters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